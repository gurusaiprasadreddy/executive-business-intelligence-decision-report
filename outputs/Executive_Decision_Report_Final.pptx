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DATA ANALYTICS &amp; BUSINESS INTELLIGENCE CAPSTONE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Executive Decision Report: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Retail Margin Turnaround Strategy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Three Sequenced Strategic Decisions to Lift Annual Profit by +$103k and Deliver $200.7k 36-Month Net Cash Benefit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AUTHOR &amp; CONSULTANT</a:t>
            </a:r>
          </a:p>
          <a:p>
            <a:pPr>
              <a:defRPr sz="950" b="0">
                <a:solidFill>
                  <a:srgbClr val="94A3B8"/>
                </a:solidFill>
              </a:defRPr>
            </a:pP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Gurusaiprasadreddy</a:t>
            </a:r>
          </a:p>
          <a:p>
            <a:pPr>
              <a:defRPr sz="950" b="0">
                <a:solidFill>
                  <a:srgbClr val="94A3B8"/>
                </a:solidFill>
              </a:defRPr>
            </a:pPr>
            <a:r>
              <a:t>Senior BI Consultant &amp; Analytics Lead</a:t>
            </a:r>
          </a:p>
          <a:p>
            <a:pPr>
              <a:defRPr sz="950" b="0">
                <a:solidFill>
                  <a:srgbClr val="94A3B8"/>
                </a:solidFill>
              </a:defRPr>
            </a:pPr>
            <a:r>
              <a:t>RabTech Academy 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384048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AUDIENCE &amp; GOVERNANCE</a:t>
            </a:r>
          </a:p>
          <a:p>
            <a:pPr>
              <a:defRPr sz="950" b="0">
                <a:solidFill>
                  <a:srgbClr val="94A3B8"/>
                </a:solidFill>
              </a:defRPr>
            </a:pP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Executive Leadership Team</a:t>
            </a:r>
          </a:p>
          <a:p>
            <a:pPr>
              <a:defRPr sz="950" b="0">
                <a:solidFill>
                  <a:srgbClr val="94A3B8"/>
                </a:solidFill>
              </a:defRPr>
            </a:pPr>
            <a:r>
              <a:t>Chief Executive Officer &amp; CFO</a:t>
            </a:r>
          </a:p>
          <a:p>
            <a:pPr>
              <a:defRPr sz="950" b="0">
                <a:solidFill>
                  <a:srgbClr val="94A3B8"/>
                </a:solidFill>
              </a:defRPr>
            </a:pPr>
            <a:r>
              <a:t>Reporting Period: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84048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DATASET &amp; AUDIT STATUS</a:t>
            </a:r>
          </a:p>
          <a:p>
            <a:pPr>
              <a:defRPr sz="950" b="0">
                <a:solidFill>
                  <a:srgbClr val="94A3B8"/>
                </a:solidFill>
              </a:defRPr>
            </a:pP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11,996 Clean Orders</a:t>
            </a:r>
          </a:p>
          <a:p>
            <a:pPr>
              <a:defRPr sz="950" b="0">
                <a:solidFill>
                  <a:srgbClr val="94A3B8"/>
                </a:solidFill>
              </a:defRPr>
            </a:pPr>
            <a:r>
              <a:t>Scope: Omnichannel Retail ($3.37M Sales)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Audit Status: PASSED (75/75 Tests)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Executive Decision Brief: Reversing Margin Decay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Revenue grew +56% since 2023, but profit margin collapsed from 15.4% to 11.9%. Three sequenced decisions recover +$103k/yr.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2 of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1. THE BUSINESS PROBLEM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Revenue climbed +56.2% ($897k -&gt; $1.40M),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but profit rose only +20.7%.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Weighted margin dropped -3.51 pp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(15.44% in 2023 down to 11.93% in 2025).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Discounts &gt;20% generate -$40,094 losses.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Marketplace channel fee (15%) causes -2.55%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negative margin on $684k sales.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Central region shipping delays (58.4% late)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triple returns (14.9%) and erode retention.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03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2. THREE STRATEGIC DECISIONS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Decision 1: Discount Guardrails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Hard cap at 20%; 15% basket margin floor.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Uplift: +$66,332/yr | Capex: $10k | M3 Payback.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Decision 2: Marketplace Margin Repair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Renegotiate fee to 14% (-1 pp); cap discount 10%.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Uplift: +$29,352/yr | Capex: $12k | M12 Payback.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Decision 3: Delivery SLA &amp; Retention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Central 3PL overhaul; reduce late to 15%.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Uplift: +$7,314/yr | Capex: $12k | Brand SLA.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3. BASE FINANCIALS &amp; RISKS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Audited Base Case Summary: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Annual Uplift: +$102,997/yr (+61.6% profit)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36-Month Total Cost: $86,250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36-Month Net Cash: +$200,723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Net ROI: 232.72% | 10% NPV: $168,399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Portfolio Payback: Month 8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Critical Risk Disclosures: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Rec 3 Standalone Deficit: -$18,795 over 36m.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Funded by Rec 1 &amp; Rec 2 portfolio surplus.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Rec 1 Contagion Risk: 825 buyers also placed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$741k in profitable orders. Use basket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COMMERCIAL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Business Context &amp; Strategic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Analyzing 11,996 transactions across three fulfillment channels, five geographic territories, and three product categories.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3 of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Omnichannel Architecture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Retail Store: 3,869 Orders | $1.16M Sales (34.4%)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Profit: $245.9k | Margin: 21.22%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Physical anchors with strong customer attachment.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Online Web Store: 5,467 Orders | $1.53M Sales (45.4%)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Profit: $229.6k | Margin: 15.00%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Primary digital volume driver with healthy unit profit.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Marketplace: 2,660 Orders | $684.1k Sales (20.3%)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Profit: -$17.4k | Margin: -2.55%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Fastest growing channel but deeply unprofitable.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03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Core Business Questions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Q1: Decoupling Mechanism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Why did top-line growth (+56%) fail to flow to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bottom-line earnings (+21%)?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Q2: Loss Concentration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Which discount bands, regions, and channels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destroy capital through cross-subsidization?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Q3: Fulfillment &amp; Churn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How much margin is lost through late delivery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returns and customer retention decay?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Q4: Costed Turnaround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What sequenced actions deliver positive ROI?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Strategic Imperatives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Volume to Value Focus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Shift corporate KPIs from top-line revenue to net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contribution profit after all channel fees and freight.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Prevent Churn Contagion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Do not bluntly cancel orders; apply basket-level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margin governance to protect multi-order buyers.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Partner Accountability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Renegotiate marketplace fees and 3PL contracts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with strict performance penalty clauses.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Retention Protection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Repeat buyers drive 95% of orders. Service delivery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quality is essential for customer lifetime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GOVERNANCE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Data Governance, Cleaning Pipeline &amp; Analytics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A reproducible, 6-stage deterministic pipeline transforming 12,400 raw entries into 11,996 audited, reliable transaction records.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4 of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Dataset Coverage &amp; Scope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Reporting Period: 2023-01-01 to 2025-12-31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Raw Transactions: 12,400 rows across 20 fields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Clean Transactions: 11,996 fully validated rows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Coverage: 5 US regions, 3 product categories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Customer Base: 2,116 unique accounts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Simulated-Data Disclosure: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The dataset represents simulated omnichannel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retail operations designed for BI stress testing.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Observational data establishes statistical correlation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rather than clinical counterfactual causation.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03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6-Stage Cleaning Pipeline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Stage 1: Ingestion &amp; Schema Typing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Standardized date parsing &amp; numeric type casting.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Stage 2: Exact Deduplication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Purged 400 identical order rows.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Stage 3: Categorical Standardization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Reduced region variants from 29 to 5.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Stage 4: Outlier Treatment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Corrected 28 extreme quantity keying errors to median.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Stage 5: Hierarchy-Aware Imputation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Customer-mode imputation for missing regions.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Stage 6: Automated Validation Gates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12 automated test gates (11 passed, 1 info note).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Analytical Methods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Volume-Weighted KPI Engine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Avoided simple average margin distortion by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weighting all margins strictly by transaction dollars.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Hypothesis Testing Framework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Conducted two-sample Welch's t-tests on discount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margins, marketplace drag, and delivery returns.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Cohort Retention Tracking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Tracked annual customer repeat rates (54.4% -&gt; 49.7%).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Dynamic 36-Month Cash Flow Model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Monthly cash flow engine incorporating launch timing,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ramp-up curves, Capex/Opex, and 10% WACC discounting.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DATA QUALITY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Data Quality &amp; Financial Reconciliation 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Unadjusted raw data overstates revenue by $738.8k (+21.9%) and profit by $194.6k (+42.5%). Audited metrics prevent flawed capital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5 of 15</a:t>
            </a:r>
          </a:p>
        </p:txBody>
      </p:sp>
      <p:pic>
        <p:nvPicPr>
          <p:cNvPr id="9" name="Picture 8" descr="chart1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03520" cy="29083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234440"/>
            <a:ext cx="560801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Financial Reconciliation Summary</a:t>
            </a:r>
          </a:p>
          <a:p/>
          <a:p>
            <a:r>
              <a:t>• Raw Sales: $4,112,442 (12,400 rows, $652k profit)</a:t>
            </a:r>
          </a:p>
          <a:p>
            <a:r>
              <a:t>• Exact Duplicates Removed: -400 rows (-$185,341 rev, -$36,702 profit)</a:t>
            </a:r>
          </a:p>
          <a:p>
            <a:r>
              <a:t>• Dropped Unrecoverable: -4 rows (-$1,124 rev, -$289 profit)</a:t>
            </a:r>
          </a:p>
          <a:p>
            <a:r>
              <a:t>• Quantity Outliers Corrected: -28 rows (-$552,349 rev, -$157,612 profit)</a:t>
            </a:r>
          </a:p>
          <a:p>
            <a:r>
              <a:t>• Final Clean Sales: $3,373,628 (11,996 rows, $458,058 profit)</a:t>
            </a:r>
          </a:p>
          <a:p/>
          <a:p>
            <a:r>
              <a:t>Audit Caveats:</a:t>
            </a:r>
          </a:p>
          <a:p>
            <a:r>
              <a:t>• 607 low-severity profit rounding deviations (&lt;$0.05 penny rounding).</a:t>
            </a:r>
          </a:p>
          <a:p>
            <a:r>
              <a:t>• 407 high-value legitimate B2B bulk orders retained above IQR fence.</a:t>
            </a:r>
          </a:p>
          <a:p>
            <a:r>
              <a:t>• Raw data overstates revenue by $738.8k and profit by $194.6k.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TOP-LINE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Revenue &amp; Order Volume Trajectory (2023–2025)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Annual sales climbed from $896.6k to $1.40M (+56.2%) driven by order volume expansion (+61.7%), while AOV held steady at ~$281.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6 of 15</a:t>
            </a:r>
          </a:p>
        </p:txBody>
      </p:sp>
      <p:pic>
        <p:nvPicPr>
          <p:cNvPr id="9" name="Picture 8" descr="chart2_revenue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03520" cy="29083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234440"/>
            <a:ext cx="560801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Top-Line Growth Dynamics (2023–2025)</a:t>
            </a:r>
          </a:p>
          <a:p/>
          <a:p>
            <a:r>
              <a:t>• 2023: $896,588 Sales | 3,079 Orders | 524 Customers | AOV $291.19</a:t>
            </a:r>
          </a:p>
          <a:p>
            <a:r>
              <a:t>• 2024: $1,076,644 Sales (+20.1%) | 3,939 Orders | 1,003 Customers | AOV $273.33</a:t>
            </a:r>
          </a:p>
          <a:p>
            <a:r>
              <a:t>• 2025: $1,400,397 Sales (+30.1%) | 4,978 Orders | 1,376 Customers | AOV $281.32</a:t>
            </a:r>
          </a:p>
          <a:p/>
          <a:p>
            <a:r>
              <a:t>Key Strategic Insights:</a:t>
            </a:r>
          </a:p>
          <a:p>
            <a:r>
              <a:t>• Overall 3-year revenue growth: +56.2%; order volume growth: +61.7%.</a:t>
            </a:r>
          </a:p>
          <a:p>
            <a:r>
              <a:t>• Stable Average Order Value (~$281) proves growth is volume-driven.</a:t>
            </a:r>
          </a:p>
          <a:p>
            <a:r>
              <a:t>• Top 20% of customers generate 66.1% of revenue ($2.23M).</a:t>
            </a:r>
          </a:p>
          <a:p>
            <a:r>
              <a:t>• Customer base nearly tripled (+162.6%), subsidized by aggressive price discounts.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MARGIN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Profitability Diagnosis: The Growth vs. Margin Decoupling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While annual revenue grew +56.2%, dollar profit grew only +20.7%, resulting in a net -3.51 percentage point collapse in contribution margin.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7 of 15</a:t>
            </a:r>
          </a:p>
        </p:txBody>
      </p:sp>
      <p:pic>
        <p:nvPicPr>
          <p:cNvPr id="9" name="Picture 8" descr="chart3_margin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03520" cy="29083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234440"/>
            <a:ext cx="560801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Product Category Margin Asymmetry</a:t>
            </a:r>
          </a:p>
          <a:p/>
          <a:p>
            <a:r>
              <a:t>• Office Supplies: $432,492 Sales (12.8%) | $152,229 Profit | 35.20% Margin</a:t>
            </a:r>
          </a:p>
          <a:p>
            <a:r>
              <a:t>• Furniture: $1,293,350 Sales (38.3%) | $157,456 Profit | 12.17% Margin</a:t>
            </a:r>
          </a:p>
          <a:p>
            <a:r>
              <a:t>• Technology: $1,647,786 Sales (48.8%) | $148,373 Profit | 9.00% Margin</a:t>
            </a:r>
          </a:p>
          <a:p>
            <a:r>
              <a:t>• Total Portfolio: $3,373,628 Sales | $458,058 Profit | 13.58% Margin</a:t>
            </a:r>
          </a:p>
          <a:p/>
          <a:p>
            <a:r>
              <a:t>Diagnostic Takeaway:</a:t>
            </a:r>
          </a:p>
          <a:p>
            <a:r>
              <a:t>• Growth was concentrated in Technology (48.8% sales) and Furniture (38.3%),</a:t>
            </a:r>
          </a:p>
          <a:p>
            <a:r>
              <a:t>  which carry weak gross margins and high freight/marketplace fees.</a:t>
            </a:r>
          </a:p>
          <a:p>
            <a:r>
              <a:t>• Office Supplies earns one third of company profit on just 13% of revenue.</a:t>
            </a:r>
          </a:p>
          <a:p>
            <a:r>
              <a:t>• While revenue expanded +56%, margin collapsed by -3.51 percentage 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PRICING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Discount Economics: The 20% Discount Loss Cliff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Discounts above 20% destroy unit profitability: 1,605 orders generated -$40,094 in direct losses. Blunt cancellations risk customer contagion.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8 of 15</a:t>
            </a:r>
          </a:p>
        </p:txBody>
      </p:sp>
      <p:pic>
        <p:nvPicPr>
          <p:cNvPr id="9" name="Picture 8" descr="chart4_discount_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03520" cy="29083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234440"/>
            <a:ext cx="560801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The 20% Discount Cliff &amp; Contagion Risk</a:t>
            </a:r>
          </a:p>
          <a:p/>
          <a:p>
            <a:r>
              <a:t>Margin Trajectory by Discount Band:</a:t>
            </a:r>
          </a:p>
          <a:p>
            <a:r>
              <a:t>• 0% Discount: 28.74% Margin | 4 Loss Orders (0.1%)</a:t>
            </a:r>
          </a:p>
          <a:p>
            <a:r>
              <a:t>• 1–10% Discount: 22.37% Margin | 19 Loss Orders (0.8%)</a:t>
            </a:r>
          </a:p>
          <a:p>
            <a:r>
              <a:t>• 11–20% Discount: 11.79% Margin | 215 Loss Orders (7.3%)</a:t>
            </a:r>
          </a:p>
          <a:p>
            <a:r>
              <a:t>• 21–30% Discount: -0.56% Margin | 487 Loss Orders (25.0%)</a:t>
            </a:r>
          </a:p>
          <a:p>
            <a:r>
              <a:t>• &gt;30% Discount: -22.55% Margin | 854 Loss Orders (54.7%)</a:t>
            </a:r>
          </a:p>
          <a:p/>
          <a:p>
            <a:r>
              <a:t>Critical Contagion Disclosure:</a:t>
            </a:r>
          </a:p>
          <a:p>
            <a:r>
              <a:t>• 1,605 orders &gt;20% discount generated -$40,094 in direct losses.</a:t>
            </a:r>
          </a:p>
          <a:p>
            <a:r>
              <a:t>• These orders belong to 825 customers who ALSO generated $741,419</a:t>
            </a:r>
          </a:p>
          <a:p>
            <a:r>
              <a:t>  in sales and $152,140 in profit on profitable orders (&lt;=20% discount).</a:t>
            </a:r>
          </a:p>
          <a:p>
            <a:r>
              <a:t>• Blunt cancellations risk triggering customer attrition. Basket margin</a:t>
            </a:r>
          </a:p>
          <a:p>
            <a:r>
              <a:t>  rules and escalation workflows preserve relationship lifetime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CHANNEL &amp; REGIONAL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Channel Economics &amp; Regional Operational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Marketplace revenue share expanded to 26% while losing -2.55% on every dollar sold. Central region logistics suffer a 58.4% late delivery 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9 of 15</a:t>
            </a:r>
          </a:p>
        </p:txBody>
      </p:sp>
      <p:pic>
        <p:nvPicPr>
          <p:cNvPr id="9" name="Picture 8" descr="chart5_channel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03520" cy="29083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234440"/>
            <a:ext cx="560801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Channel Economics &amp; Central Logistics Failure</a:t>
            </a:r>
          </a:p>
          <a:p/>
          <a:p>
            <a:r>
              <a:t>Channel Economics:</a:t>
            </a:r>
          </a:p>
          <a:p>
            <a:r>
              <a:t>• Retail Store: $1.16M Sales (34.4%) | $245.9k Profit | 21.22% Margin</a:t>
            </a:r>
          </a:p>
          <a:p>
            <a:r>
              <a:t>• Online Store: $1.53M Sales (45.4%) | $229.6k Profit | 15.00% Margin</a:t>
            </a:r>
          </a:p>
          <a:p>
            <a:r>
              <a:t>• Marketplace: $684.1k Sales (20.3%) | -$17.4k Profit | -2.55% Margin</a:t>
            </a:r>
          </a:p>
          <a:p>
            <a:r>
              <a:t>• Marketplace mix expanded from 12.3% to 26.2%, cannibalizing profits.</a:t>
            </a:r>
          </a:p>
          <a:p/>
          <a:p>
            <a:r>
              <a:t>Regional Fulfillment Bottleneck:</a:t>
            </a:r>
          </a:p>
          <a:p>
            <a:r>
              <a:t>• West (11.9% late) and North (18.7% late) perform reliably.</a:t>
            </a:r>
          </a:p>
          <a:p>
            <a:r>
              <a:t>• Central region delivered 573 of 981 orders late (58.41% late delivery rate).</a:t>
            </a:r>
          </a:p>
          <a:p>
            <a:r>
              <a:t>• Carrier contracts lack SLA penalties, causing massive delivery backlogs.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FULFILLMENT &amp;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Delivery Timeliness, Return Rates &amp; Retention Erosion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Late deliveries suffer a 14.9% return rate (3.1x on-time rate). Annual customer retention dropped from 54.4% to 49.7% (-4.7 pp).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10 of 15</a:t>
            </a:r>
          </a:p>
        </p:txBody>
      </p:sp>
      <p:pic>
        <p:nvPicPr>
          <p:cNvPr id="9" name="Picture 8" descr="chart6_returns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03520" cy="29083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234440"/>
            <a:ext cx="560801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Delivery Delays, Returns, &amp; Customer Retention</a:t>
            </a:r>
          </a:p>
          <a:p/>
          <a:p>
            <a:r>
              <a:t>Statistical Hypothesis 3 Results:</a:t>
            </a:r>
          </a:p>
          <a:p>
            <a:r>
              <a:t>• On-time deliveries (&lt;=5 days): 4.78% return rate across 9,266 orders.</a:t>
            </a:r>
          </a:p>
          <a:p>
            <a:r>
              <a:t>• Late deliveries (&gt;5 days): 14.91% return rate across 2,730 orders (3.1x higher).</a:t>
            </a:r>
          </a:p>
          <a:p>
            <a:r>
              <a:t>• Welch's t-test: t = 14.13, p = 4.80e-44 (statistically significant).</a:t>
            </a:r>
          </a:p>
          <a:p/>
          <a:p>
            <a:r>
              <a:t>Customer Retention Erosion:</a:t>
            </a:r>
          </a:p>
          <a:p>
            <a:r>
              <a:t>• Annual cohort retention dropped from 54.39% to 49.65% (-4.7 pp).</a:t>
            </a:r>
          </a:p>
          <a:p>
            <a:r>
              <a:t>• 95.0% of orders come from repeat buyers; losing loyalty destroys LTV.</a:t>
            </a:r>
          </a:p>
          <a:p/>
          <a:p>
            <a:r>
              <a:t>Observational Caveat:</a:t>
            </a:r>
          </a:p>
          <a:p>
            <a:r>
              <a:t>• Historical association does not prove counterfactual causation. While late</a:t>
            </a:r>
          </a:p>
          <a:p>
            <a:r>
              <a:t>  deliveries correlate with returns, returns also depend on category sizing</a:t>
            </a:r>
          </a:p>
          <a:p>
            <a:r>
              <a:t>  and buyer expectations.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RECOMMENDATION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Recommendation 1: Automated Discount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Cap standard checkout discounts at 20% and enforce a 15% minimum basket margin. Uplift: +$66,332/yr | Payback: Month 3.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11 of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Policy &amp; System Architecture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20% Hard Ceiling at Checkout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Configure e-commerce checkout and ERP order entry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to reject single-item discounts exceeding 20%.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15% Basket Margin Floor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Enforce total order contribution margin check.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Orders falling below 15% margin trigger escalation.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Tiered Commercial Escalation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Discounts 15%–20% require Sales Director approval;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discounts &gt;20% require Regional VP sign-off.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Daily Margin Exception Audit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Automated daily audit to CFO detailing rep compliance.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03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Audited Financial Business Case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Base-Case 36-Month Projections: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Annual Steady-State Uplift: +$66,331.86/yr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Annual Revenue Delta: +$58,959.97/yr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Implementation Capex: $10,000.00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Annual Recurring Opex: $3,999.96/yr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36-Month Total Cost: $21,999.88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36-Month Net Cash Benefit: +$171,468.04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Net ROI: 779.40%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Breakeven Payback: Month 3 (Immediate)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Fast Cash Generation: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Rec 1 self-funds the entire turnaround portfolio.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Contagion Mitigation &amp; Roadmap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Preventing Customer Churn Contagion: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825 buyers of &gt;20% discounted goods also deliver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$741k in profitable purchases.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Transition large buyers from transactional discounts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to structured annual volume rebates.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Realine sales incentives to contribution profit dollars.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Implementation Roadmap: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Month 1: ERP pricing logic configuration ($5k).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Month 2: Sales team enablement &amp; training ($5k).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Month 3: Go-live on direct online &amp; retail stores.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Owner: VP Sales &amp; Chief Commercial Officer.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RECOMMENDATION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Recommendation 2: Marketplace Margin 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Renegotiate platform fees by 1.0 pp, impose a 10% channel discount cap, and prune unprofitable SKUs. Uplift: +$29,352/yr | Payback: Month 12.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12 of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Three-Pillar Margin Recovery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Pillar 1: 1.0 pp Fee Cut (15% -&gt; 14%)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Leverage annual platform volume ($684k) to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negotiate a 1.0 pp reduction in platform take-rate.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Pillar 2: 10% Channel Discount Cap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Impose a strict 10% maximum promotional ceiling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on all marketplace listings to protect margins.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Pillar 3: Catalog Rationalization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Delist low-margin, bulky Furniture and Tech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accessories with gross margins below 25%.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Pillar 4: Direct Channel Redirection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Insert branded packaging cards offering $10 welcome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vouchers for direct online web store purchases.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03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Audited Financial Business Case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Base-Case 36-Month Projections: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Annual Steady-State Uplift: +$29,352.04/yr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Annual Revenue Delta: +$20,869.23/yr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Implementation Capex: $12,000.00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Annual Recurring Opex: $6,000.00/yr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36-Month Total Cost: $29,000.00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36-Month Net Cash Benefit: +$48,049.10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Net ROI: 165.69%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Breakeven Payback: Month 12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Marketplace Contribution: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Transforms channel from -$17.4k loss to +$12k profit.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Negotiation Governance &amp; Risks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Negotiation Strategy &amp; Leverage: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Position company as high-volume tier-1 seller.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Offer catalog exclusivity and co-op ad spend.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Fallback sensitivity: Even if fee cut is 0.0 pp,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discount controls and SKU pruning net +$189.5k.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Implementation Roadmap: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Month 4: Open platform fee negotiations.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Month 5: Channel listing automation setup ($12k).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Month 6: Enforce 10% cap and prune 45 SKUs.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Month 12: Payback reached; full run-rate.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Owner: VP E-Commerce &amp; Marketplace Lead.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RECOMMENDATION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Recommendation 3: Delivery SLA &amp; Customer Retention Overhaul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Overhaul Central region 3PL logistics to reduce late deliveries from 58% to 15%. Standalone deficit: -$18.8k; strategic brand investment.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13 of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Logistics Overhaul Plan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Central Carrier Re-Contracting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Terminate underperforming exclusive 3PL contract;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onboard secondary regional carrier in Central.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Strict SLA Penalty Guarantees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Contractually enforce 95% on-time delivery with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freight credit penalties on late orders.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Hub Re-Routing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Re-route shipments through Dallas/Chicago hubs,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cutting Central transit time by 2.2 days.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Proactive Customer Outreach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Automated delivery tracking SMS and proactive $15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gift credits for delayed packages.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03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Audited Financials &amp; Deficit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Standalone Economics (Base Case):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Annual Return Cost Savings: +$1,911.00/yr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Annual Retention Profit: +$5,402.52/yr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Total Annual Benefit: +$7,313.52/yr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Annual Recurring Opex: $9,000.00/yr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Net Annual Run-Rate: -$1,686.48/yr (Deficit)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Implementation Capex: $12,000.00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36-Month Total Cost: $35,250.00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36-Month Net Cash: -$18,794.58 (Deficit)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Net ROI: -53.32%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Standalone Payback: Never (&gt;36 Months)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Transparent disclosure of operating drag.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Strategic Justification &amp; Options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Executive Decision Options: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Option A: Cost Redesign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Re-scope carrier software integrations to compress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opex from $9.0k to $5.0k/yr, reaching breakeven.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Option B: 6-Month Pilot Validation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Run pilot in Central to validate whether retention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uplift exceeds modeled +4.5 pp before full rollout.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Option C: Strategic Brand Approval (Rec.)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Approve as essential brand &amp; SLA investment.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Funded by portfolio surplus from Rec 1 ($171k) and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Rec 2 ($48k). Combined portfolio nets +$200.7k cash.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Owner: VP Supply Chain &amp; COO.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PORTFOLIO 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Financial Business Case: Multi-Scenario ROI &amp;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Audited 36-month portfolio delivers $200,723 net cash benefit (232.7% ROI, Month 8 payback). Positive across all sensitivity stress tests.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14 of 15</a:t>
            </a:r>
          </a:p>
        </p:txBody>
      </p:sp>
      <p:pic>
        <p:nvPicPr>
          <p:cNvPr id="9" name="Picture 8" descr="chart7_cas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03520" cy="29083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234440"/>
            <a:ext cx="560801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Audited Multi-Scenario Financial Case</a:t>
            </a:r>
          </a:p>
          <a:p/>
          <a:p>
            <a:r>
              <a:t>Portfolio Performance Matrix:</a:t>
            </a:r>
          </a:p>
          <a:p>
            <a:r>
              <a:t>• Conservative: +$82.5k/yr Uplift | $99.7k Total Cost | +$119,555 Net Cash | 119.9% ROI | Payback M12 | NPV $97,798</a:t>
            </a:r>
          </a:p>
          <a:p>
            <a:r>
              <a:t>• Base Case: +$103.0k/yr Uplift | $86.2k Total Cost | +$200,723 Net Cash | 232.7% ROI | Payback M8 | NPV $168,399</a:t>
            </a:r>
          </a:p>
          <a:p>
            <a:r>
              <a:t>• Optimistic: +$121.8k/yr Uplift | $77.6k Total Cost | +$256,068 Net Cash | 329.9% ROI | Payback M5 | NPV $215,709</a:t>
            </a:r>
          </a:p>
          <a:p/>
          <a:p>
            <a:r>
              <a:t>Sensitivity Robustness (7 Dimensions):</a:t>
            </a:r>
          </a:p>
          <a:p>
            <a:r>
              <a:t>• Cost Overrun (+20% Capex/Opex): Net cash remains $183.5k; ROI 177.3%.</a:t>
            </a:r>
          </a:p>
          <a:p>
            <a:r>
              <a:t>• Implementation Delay (+2 Mos): Net cash remains $186.7k; payback M10.</a:t>
            </a:r>
          </a:p>
          <a:p>
            <a:r>
              <a:t>• Marketplace Fee Cut Stalled (0.0 pp): Net cash remains $189.5k; payback M8.</a:t>
            </a:r>
          </a:p>
          <a:p>
            <a:r>
              <a:t>• 100% of tested sensitivity scenarios produce strongly positive NPV.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9728"/>
            <a:ext cx="2926080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TURNAROUND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Implementation Roadmap, Governance &amp; Executive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A 12-month phased turnaround plan with clear ownership, milestone gates, and four explicit leadership decisions required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Simulated Omnichannel Retail Data (2023–2025) | Audited Stage 4 ROI Engine | 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Slide 15 of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12-Month Phased Rollout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Q1 (Months 1–3): Quick Wins &amp; Cash Inflow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Deploy Rec 1 discount guardrails (20% cap).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Cash payback achieved in Month 3.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Initiate Central 3PL carrier audit.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Q2 (Months 4–6): Marketplace Alignment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Renegotiate marketplace fees (-1 pp).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Implement 10% discount cap &amp; prune 45 SKUs.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Launch Central SLA carrier pilot.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Q3 (Months 7–9): System Rollout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Deploy automated delivery tracking and alerts.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Combined portfolio reaches breakeven in Month 8.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Q4 (Months 10–12): Steady-State Optimization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Achieve full steady-state uplift (+$103k/yr).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030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Executive Ownership Matrix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Rec 1 Lead: VP Sales &amp; Chief Commercial Officer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Enforce 15% basket margin; sales quota alignment.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Target: % orders &gt;20% discount &lt; 3.0%.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Rec 2 Lead: VP E-Commerce &amp; Marketplace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Lead fee negotiations and catalog delistings.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Target: Marketplace margin &gt; +4.0%.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Rec 3 Lead: VP Supply Chain &amp; COO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Logistics contracts, warehouse SLAs, transit alerts.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Target: Central late delivery rate &lt; 15.0%.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Financial Governance: CFO &amp; Controller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Monthly variance reviews against Stage 4 budget.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23444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Decisions Requested Today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1. Approve $34k Initial Capex Allocation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Authorize immediate $34,000 funding across the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three initiatives to begin software and carrier work.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2. Mandate 20% Discount Ceiling Policy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Approve commercial policy enforcing 20% cap and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15% basket minimum margin effective Month 1.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3. Authorize Marketplace Fee Negotiations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Direct commercial team to open contract talks and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enforce 10% listing discount ceiling.</a:t>
            </a:r>
          </a:p>
          <a:p>
            <a:pPr>
              <a:defRPr sz="850">
                <a:solidFill>
                  <a:srgbClr val="1E293B"/>
                </a:solidFill>
              </a:defRPr>
            </a:pPr>
          </a:p>
          <a:p>
            <a:pPr>
              <a:defRPr sz="850">
                <a:solidFill>
                  <a:srgbClr val="1E293B"/>
                </a:solidFill>
              </a:defRPr>
            </a:pPr>
            <a:r>
              <a:t>4. Endorse Rec 3 SLA Strategic Investment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Approve Central logistics overhaul as a strategic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mandate funded by portfolio cash surplus.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